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64" r:id="rId4"/>
    <p:sldId id="265" r:id="rId5"/>
    <p:sldId id="266" r:id="rId6"/>
    <p:sldId id="258" r:id="rId7"/>
    <p:sldId id="267" r:id="rId8"/>
    <p:sldId id="259" r:id="rId9"/>
    <p:sldId id="268" r:id="rId10"/>
    <p:sldId id="269" r:id="rId11"/>
    <p:sldId id="270" r:id="rId12"/>
    <p:sldId id="271" r:id="rId13"/>
    <p:sldId id="260" r:id="rId14"/>
    <p:sldId id="262"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F5D4AC-09B4-4BA9-81C2-61B68439BADE}" v="56" dt="2026-04-26T05:49:10.6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75" d="100"/>
          <a:sy n="75" d="100"/>
        </p:scale>
        <p:origin x="86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2E6DB9-634F-40E3-97D0-7567BD310DC3}"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7D71F6-0F75-4AEB-908F-A4C4A978438B}" type="slidenum">
              <a:rPr lang="en-IN" smtClean="0"/>
              <a:t>‹#›</a:t>
            </a:fld>
            <a:endParaRPr lang="en-IN"/>
          </a:p>
        </p:txBody>
      </p:sp>
    </p:spTree>
    <p:extLst>
      <p:ext uri="{BB962C8B-B14F-4D97-AF65-F5344CB8AC3E}">
        <p14:creationId xmlns:p14="http://schemas.microsoft.com/office/powerpoint/2010/main" val="1020919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7D71F6-0F75-4AEB-908F-A4C4A978438B}" type="slidenum">
              <a:rPr lang="en-IN" smtClean="0"/>
              <a:t>1</a:t>
            </a:fld>
            <a:endParaRPr lang="en-IN"/>
          </a:p>
        </p:txBody>
      </p:sp>
    </p:spTree>
    <p:extLst>
      <p:ext uri="{BB962C8B-B14F-4D97-AF65-F5344CB8AC3E}">
        <p14:creationId xmlns:p14="http://schemas.microsoft.com/office/powerpoint/2010/main" val="1452658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AB426-0C92-F0A4-A366-9A5C23D975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AB26F9-997C-8F63-9F48-116C51AD9F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DAA7CD-8E4C-6937-6203-140A15C1074B}"/>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5" name="Footer Placeholder 4">
            <a:extLst>
              <a:ext uri="{FF2B5EF4-FFF2-40B4-BE49-F238E27FC236}">
                <a16:creationId xmlns:a16="http://schemas.microsoft.com/office/drawing/2014/main" id="{6D5827A8-A058-D93E-4C77-6441303D88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DF716C-C5BE-853F-C7CE-5F14D781BDC5}"/>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3541901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4713D-ECA1-FD15-6523-69CD0797F3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994602-6CAD-D3EF-8D7D-DD209DB46F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EDBF84-01F2-29CE-0CCD-9B2AA12B47B5}"/>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5" name="Footer Placeholder 4">
            <a:extLst>
              <a:ext uri="{FF2B5EF4-FFF2-40B4-BE49-F238E27FC236}">
                <a16:creationId xmlns:a16="http://schemas.microsoft.com/office/drawing/2014/main" id="{BE4369B3-773C-3C21-EB54-A9D77524C5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9C34C4-5728-0D22-D152-A45025105E26}"/>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2417261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2A062-53C5-35D8-8EE8-ED4C5DF858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19DD636-C0F8-0977-A7AD-B847D5DB03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1E55C4-7FE5-5E6E-F29A-1103E4497D99}"/>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5" name="Footer Placeholder 4">
            <a:extLst>
              <a:ext uri="{FF2B5EF4-FFF2-40B4-BE49-F238E27FC236}">
                <a16:creationId xmlns:a16="http://schemas.microsoft.com/office/drawing/2014/main" id="{1470C8B1-9EB7-526E-6AA7-2A546644A5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42FF1E-4952-F6CB-24A4-06B4936587F4}"/>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1261905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0CA5F-9747-A77E-EF96-7DDBAAF07D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F316A9-2339-6010-4B9B-B525305122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2D5520-C336-E6F0-DF45-D70CBCCAAD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42F1CC9-72E2-8ED2-17F4-91D2AAFC24F5}"/>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6" name="Footer Placeholder 5">
            <a:extLst>
              <a:ext uri="{FF2B5EF4-FFF2-40B4-BE49-F238E27FC236}">
                <a16:creationId xmlns:a16="http://schemas.microsoft.com/office/drawing/2014/main" id="{23ABD430-5646-3415-D042-D3706FB41D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52685B-873C-4581-AAF2-6530BCE6A7F1}"/>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3350446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4524B-AA22-3402-BD55-B1C524C5C5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7214C6-40B5-CFC2-5449-0A11AC07CA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EAE8E5-9FC0-D2BE-A086-7E5035D4C4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6AB9F8-4A6C-1E88-7B1E-5EA45AF631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427795-FBC6-DA99-E72D-CC4027686F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CAE807-9611-16D5-4B24-6FBE4BEE7725}"/>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8" name="Footer Placeholder 7">
            <a:extLst>
              <a:ext uri="{FF2B5EF4-FFF2-40B4-BE49-F238E27FC236}">
                <a16:creationId xmlns:a16="http://schemas.microsoft.com/office/drawing/2014/main" id="{190415D8-852C-873A-E577-CAFC63E815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1151E0-344A-2312-6661-C6395CFDFFC7}"/>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729158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5126B-5BC0-DC76-1522-14ED97B089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F21D05-12B9-74EC-CE14-4C46FFB17854}"/>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4" name="Footer Placeholder 3">
            <a:extLst>
              <a:ext uri="{FF2B5EF4-FFF2-40B4-BE49-F238E27FC236}">
                <a16:creationId xmlns:a16="http://schemas.microsoft.com/office/drawing/2014/main" id="{5BD2ABAD-69AD-E918-4DB0-2546C79A25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A6FDD0-F43C-E830-3CB8-76FD1209C33F}"/>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4049126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2238B9-01D9-23CB-B562-F55CA54C4065}"/>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3" name="Footer Placeholder 2">
            <a:extLst>
              <a:ext uri="{FF2B5EF4-FFF2-40B4-BE49-F238E27FC236}">
                <a16:creationId xmlns:a16="http://schemas.microsoft.com/office/drawing/2014/main" id="{BAEE5FC2-6EC6-FF87-23F7-95FF0F50FF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08DE62-E9D0-BF9D-8FBB-7ED1837F94C5}"/>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209598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413F1-09A2-C6B6-E2FD-1266370BD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5C8904-DE22-A489-7D72-E0B253395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F7BD36D-3586-C3ED-4C4B-77A9C27BEC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D8AD54-9F6E-D782-EDB5-A7F060D5011B}"/>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6" name="Footer Placeholder 5">
            <a:extLst>
              <a:ext uri="{FF2B5EF4-FFF2-40B4-BE49-F238E27FC236}">
                <a16:creationId xmlns:a16="http://schemas.microsoft.com/office/drawing/2014/main" id="{696C84AE-D24F-25AB-F2F2-0F3A60E496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97BD7E-D952-51B5-5FAA-B2A39E039EDE}"/>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3548833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A24F-1121-61E5-51E9-DD13820CBD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86D17E-6DB8-97EB-D770-9AE04E61F7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F8B5BC-16AE-25F6-628C-1B7C8E91C3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F638D1-17B2-C139-FF7B-13ACFD4E3E98}"/>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6" name="Footer Placeholder 5">
            <a:extLst>
              <a:ext uri="{FF2B5EF4-FFF2-40B4-BE49-F238E27FC236}">
                <a16:creationId xmlns:a16="http://schemas.microsoft.com/office/drawing/2014/main" id="{CD7775F7-F913-1E75-B191-8A3136A0F0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C7C98F-1EF3-9119-2A62-EFBA7AD3930E}"/>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1220544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12E6-B4FA-673D-0332-BB48E25C597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F3B993-2EDB-6025-FF97-562BF41CC6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CA66A0-466D-2F7F-0650-DB0B440B64A5}"/>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5" name="Footer Placeholder 4">
            <a:extLst>
              <a:ext uri="{FF2B5EF4-FFF2-40B4-BE49-F238E27FC236}">
                <a16:creationId xmlns:a16="http://schemas.microsoft.com/office/drawing/2014/main" id="{979EB8B5-5810-A342-269F-997C4C9A5C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3D44F4-FF2F-2523-89B2-08C4A59300D5}"/>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4122531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830851-5408-65B6-F52E-53F8D5C441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778798-5C3C-6A15-2A9D-5CC35BB85C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FC9C80-537B-3291-44CD-FE57DCD22901}"/>
              </a:ext>
            </a:extLst>
          </p:cNvPr>
          <p:cNvSpPr>
            <a:spLocks noGrp="1"/>
          </p:cNvSpPr>
          <p:nvPr>
            <p:ph type="dt" sz="half" idx="10"/>
          </p:nvPr>
        </p:nvSpPr>
        <p:spPr/>
        <p:txBody>
          <a:bodyPr/>
          <a:lstStyle/>
          <a:p>
            <a:fld id="{DA0FC08B-ADBC-412C-8BD6-22D38EBE21F7}" type="datetimeFigureOut">
              <a:rPr lang="en-IN" smtClean="0"/>
              <a:t>06-05-2026</a:t>
            </a:fld>
            <a:endParaRPr lang="en-IN"/>
          </a:p>
        </p:txBody>
      </p:sp>
      <p:sp>
        <p:nvSpPr>
          <p:cNvPr id="5" name="Footer Placeholder 4">
            <a:extLst>
              <a:ext uri="{FF2B5EF4-FFF2-40B4-BE49-F238E27FC236}">
                <a16:creationId xmlns:a16="http://schemas.microsoft.com/office/drawing/2014/main" id="{81BB9285-FA7E-3A38-7701-2A7E55A49E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ECF4F1-AA76-D8A5-CFA9-D078210B6398}"/>
              </a:ext>
            </a:extLst>
          </p:cNvPr>
          <p:cNvSpPr>
            <a:spLocks noGrp="1"/>
          </p:cNvSpPr>
          <p:nvPr>
            <p:ph type="sldNum" sz="quarter" idx="12"/>
          </p:nvPr>
        </p:nvSpPr>
        <p:spPr/>
        <p:txBody>
          <a:bodyPr/>
          <a:lstStyle/>
          <a:p>
            <a:fld id="{8F334FB4-B035-4125-8D8E-8A5D8E0BCF3F}" type="slidenum">
              <a:rPr lang="en-IN" smtClean="0"/>
              <a:t>‹#›</a:t>
            </a:fld>
            <a:endParaRPr lang="en-IN"/>
          </a:p>
        </p:txBody>
      </p:sp>
    </p:spTree>
    <p:extLst>
      <p:ext uri="{BB962C8B-B14F-4D97-AF65-F5344CB8AC3E}">
        <p14:creationId xmlns:p14="http://schemas.microsoft.com/office/powerpoint/2010/main" val="1201446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E269A2-E66D-C552-C091-D6D8F2B9F5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7DE44-CF5A-0E12-74F6-4D5EF814C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01E4B6-3CB9-C9B3-DECB-1B5A26906C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0FC08B-ADBC-412C-8BD6-22D38EBE21F7}" type="datetimeFigureOut">
              <a:rPr lang="en-IN" smtClean="0"/>
              <a:t>06-05-2026</a:t>
            </a:fld>
            <a:endParaRPr lang="en-IN"/>
          </a:p>
        </p:txBody>
      </p:sp>
      <p:sp>
        <p:nvSpPr>
          <p:cNvPr id="5" name="Footer Placeholder 4">
            <a:extLst>
              <a:ext uri="{FF2B5EF4-FFF2-40B4-BE49-F238E27FC236}">
                <a16:creationId xmlns:a16="http://schemas.microsoft.com/office/drawing/2014/main" id="{8D04ACAD-6588-D525-E0D0-B37BF8EACE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232C2FC-DC81-FB22-2800-4F7974F4D5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334FB4-B035-4125-8D8E-8A5D8E0BCF3F}" type="slidenum">
              <a:rPr lang="en-IN" smtClean="0"/>
              <a:t>‹#›</a:t>
            </a:fld>
            <a:endParaRPr lang="en-IN"/>
          </a:p>
        </p:txBody>
      </p:sp>
    </p:spTree>
    <p:extLst>
      <p:ext uri="{BB962C8B-B14F-4D97-AF65-F5344CB8AC3E}">
        <p14:creationId xmlns:p14="http://schemas.microsoft.com/office/powerpoint/2010/main" val="3360256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A4715-3EEE-1041-76EB-D0B48736B439}"/>
              </a:ext>
            </a:extLst>
          </p:cNvPr>
          <p:cNvSpPr>
            <a:spLocks noGrp="1"/>
          </p:cNvSpPr>
          <p:nvPr>
            <p:ph type="ctrTitle"/>
          </p:nvPr>
        </p:nvSpPr>
        <p:spPr>
          <a:xfrm>
            <a:off x="618067" y="240145"/>
            <a:ext cx="11006666" cy="3786910"/>
          </a:xfrm>
        </p:spPr>
        <p:txBody>
          <a:bodyPr>
            <a:normAutofit fontScale="90000"/>
          </a:bodyPr>
          <a:lstStyle/>
          <a:p>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NATIONAL EDUCATION SOCIETY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JNN College Of Engineering Shivamogga</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Department Of Information Science And Engineering</a:t>
            </a:r>
            <a:br>
              <a:rPr lang="en-US" sz="2000" dirty="0">
                <a:latin typeface="Bembo" panose="02020502050201020203" pitchFamily="18" charset="0"/>
                <a:cs typeface="Times New Roman" panose="02020603050405020304" pitchFamily="18" charset="0"/>
              </a:rPr>
            </a:br>
            <a:br>
              <a:rPr lang="en-US" sz="2000" dirty="0">
                <a:latin typeface="Bembo" panose="02020502050201020203"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TITLE: INSURANCE PRICING FORECAST</a:t>
            </a:r>
            <a:br>
              <a:rPr lang="en-US" sz="2200" dirty="0">
                <a:latin typeface="Bembo" panose="02020502050201020203" pitchFamily="18" charset="0"/>
                <a:cs typeface="Times New Roman" panose="02020603050405020304" pitchFamily="18" charset="0"/>
              </a:rPr>
            </a:br>
            <a:br>
              <a:rPr lang="en-US" sz="2200" dirty="0">
                <a:latin typeface="Bembo" panose="02020502050201020203" pitchFamily="18" charset="0"/>
                <a:cs typeface="Times New Roman" panose="02020603050405020304" pitchFamily="18" charset="0"/>
              </a:rPr>
            </a:br>
            <a:br>
              <a:rPr lang="en-US" sz="2000" dirty="0">
                <a:latin typeface="Bembo" panose="02020502050201020203" pitchFamily="18" charset="0"/>
                <a:cs typeface="Times New Roman" panose="02020603050405020304" pitchFamily="18" charset="0"/>
              </a:rPr>
            </a:br>
            <a:endParaRPr lang="en-IN" sz="2000" dirty="0"/>
          </a:p>
        </p:txBody>
      </p:sp>
      <p:sp>
        <p:nvSpPr>
          <p:cNvPr id="3" name="Subtitle 2">
            <a:extLst>
              <a:ext uri="{FF2B5EF4-FFF2-40B4-BE49-F238E27FC236}">
                <a16:creationId xmlns:a16="http://schemas.microsoft.com/office/drawing/2014/main" id="{79365DEE-B38F-5740-F073-CDB2DA4DE0A0}"/>
              </a:ext>
            </a:extLst>
          </p:cNvPr>
          <p:cNvSpPr>
            <a:spLocks noGrp="1"/>
          </p:cNvSpPr>
          <p:nvPr>
            <p:ph type="subTitle" idx="1"/>
          </p:nvPr>
        </p:nvSpPr>
        <p:spPr>
          <a:xfrm>
            <a:off x="6797965" y="4405745"/>
            <a:ext cx="5292436" cy="2108969"/>
          </a:xfrm>
        </p:spPr>
        <p:txBody>
          <a:bodyPr>
            <a:normAutofit/>
          </a:bodyPr>
          <a:lstStyle/>
          <a:p>
            <a:pPr algn="l"/>
            <a:r>
              <a:rPr lang="en-IN" sz="1800" dirty="0">
                <a:latin typeface="Times New Roman" panose="02020603050405020304" pitchFamily="18" charset="0"/>
                <a:cs typeface="Times New Roman" panose="02020603050405020304" pitchFamily="18" charset="0"/>
              </a:rPr>
              <a:t>Presented by,</a:t>
            </a:r>
          </a:p>
          <a:p>
            <a:pPr algn="l"/>
            <a:r>
              <a:rPr lang="en-IN" sz="1800" dirty="0">
                <a:latin typeface="Times New Roman" panose="02020603050405020304" pitchFamily="18" charset="0"/>
                <a:cs typeface="Times New Roman" panose="02020603050405020304" pitchFamily="18" charset="0"/>
              </a:rPr>
              <a:t>Amulya N Dummer         4JN23IS010</a:t>
            </a:r>
          </a:p>
          <a:p>
            <a:pPr algn="l"/>
            <a:r>
              <a:rPr lang="en-IN" sz="1800" dirty="0">
                <a:latin typeface="Times New Roman" panose="02020603050405020304" pitchFamily="18" charset="0"/>
                <a:cs typeface="Times New Roman" panose="02020603050405020304" pitchFamily="18" charset="0"/>
              </a:rPr>
              <a:t>Anu H S                           4JN23IS013</a:t>
            </a:r>
          </a:p>
          <a:p>
            <a:pPr algn="l"/>
            <a:r>
              <a:rPr lang="en-IN" sz="1800" dirty="0">
                <a:latin typeface="Times New Roman" panose="02020603050405020304" pitchFamily="18" charset="0"/>
                <a:cs typeface="Times New Roman" panose="02020603050405020304" pitchFamily="18" charset="0"/>
              </a:rPr>
              <a:t>Deeksha U </a:t>
            </a:r>
            <a:r>
              <a:rPr lang="en-IN" sz="1800" dirty="0" err="1">
                <a:latin typeface="Times New Roman" panose="02020603050405020304" pitchFamily="18" charset="0"/>
                <a:cs typeface="Times New Roman" panose="02020603050405020304" pitchFamily="18" charset="0"/>
              </a:rPr>
              <a:t>Harige</a:t>
            </a:r>
            <a:r>
              <a:rPr lang="en-IN" sz="1800" dirty="0">
                <a:latin typeface="Times New Roman" panose="02020603050405020304" pitchFamily="18" charset="0"/>
                <a:cs typeface="Times New Roman" panose="02020603050405020304" pitchFamily="18" charset="0"/>
              </a:rPr>
              <a:t>           4JN23IS030</a:t>
            </a:r>
          </a:p>
          <a:p>
            <a:pPr algn="l"/>
            <a:r>
              <a:rPr lang="en-IN" sz="1800" dirty="0">
                <a:latin typeface="Times New Roman" panose="02020603050405020304" pitchFamily="18" charset="0"/>
                <a:cs typeface="Times New Roman" panose="02020603050405020304" pitchFamily="18" charset="0"/>
              </a:rPr>
              <a:t>Deekshitha G Naik          4JN23IS031  </a:t>
            </a:r>
          </a:p>
        </p:txBody>
      </p:sp>
      <p:pic>
        <p:nvPicPr>
          <p:cNvPr id="4" name="Picture 3">
            <a:extLst>
              <a:ext uri="{FF2B5EF4-FFF2-40B4-BE49-F238E27FC236}">
                <a16:creationId xmlns:a16="http://schemas.microsoft.com/office/drawing/2014/main" id="{690A3899-DEEA-37B5-6EBC-92F1D7358A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5019" y="313522"/>
            <a:ext cx="1892762" cy="1294545"/>
          </a:xfrm>
          <a:prstGeom prst="rect">
            <a:avLst/>
          </a:prstGeom>
        </p:spPr>
      </p:pic>
    </p:spTree>
    <p:extLst>
      <p:ext uri="{BB962C8B-B14F-4D97-AF65-F5344CB8AC3E}">
        <p14:creationId xmlns:p14="http://schemas.microsoft.com/office/powerpoint/2010/main" val="2002460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C0CED-1C6A-D111-F909-2EF772D5FD5E}"/>
              </a:ext>
            </a:extLst>
          </p:cNvPr>
          <p:cNvSpPr>
            <a:spLocks noGrp="1"/>
          </p:cNvSpPr>
          <p:nvPr>
            <p:ph type="title"/>
          </p:nvPr>
        </p:nvSpPr>
        <p:spPr>
          <a:xfrm>
            <a:off x="323273" y="365126"/>
            <a:ext cx="11554691" cy="1325130"/>
          </a:xfrm>
        </p:spPr>
        <p:txBody>
          <a:bodyPr>
            <a:normAutofit/>
          </a:bodyPr>
          <a:lstStyle/>
          <a:p>
            <a:br>
              <a:rPr lang="en-IN"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IN"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0CBDB26-295C-B3FF-850D-547E9F30CC6C}"/>
              </a:ext>
            </a:extLst>
          </p:cNvPr>
          <p:cNvSpPr txBox="1"/>
          <p:nvPr/>
        </p:nvSpPr>
        <p:spPr>
          <a:xfrm>
            <a:off x="323273" y="214327"/>
            <a:ext cx="11674764" cy="5878532"/>
          </a:xfrm>
          <a:prstGeom prst="rect">
            <a:avLst/>
          </a:prstGeom>
          <a:noFill/>
        </p:spPr>
        <p:txBody>
          <a:bodyPr wrap="square" rtlCol="0">
            <a:spAutoFit/>
          </a:bodyPr>
          <a:lstStyle/>
          <a:p>
            <a:r>
              <a:rPr lang="en-IN"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Insurance Pricing Forecast:</a:t>
            </a:r>
          </a:p>
          <a:p>
            <a:endParaRPr lang="en-IN"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Insurance Pricing Forecast is a machine learning–based process of predicting insurance premium costs by analyzing historical data, risk factors, and hidden patterns to estimate accurate future pricing</a:t>
            </a:r>
            <a:r>
              <a:rPr lang="en-US" sz="20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r>
              <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Need for Insurance Pricing Forecast:</a:t>
            </a:r>
          </a:p>
          <a:p>
            <a:endPar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To predict accurate insurance premiums based on risk factors.</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To improve pricing decisions and reduce manual errors.</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To maintain a balance between risk coverage and profitability.</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To analyze historical data and identify hidden patterns affecting insurance costs.</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To help insurers provide fair, efficient, and personalized pricing for customers.</a:t>
            </a: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540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621CD8-EA08-3B79-7A45-12F1AC102990}"/>
              </a:ext>
            </a:extLst>
          </p:cNvPr>
          <p:cNvSpPr txBox="1"/>
          <p:nvPr/>
        </p:nvSpPr>
        <p:spPr>
          <a:xfrm>
            <a:off x="254000" y="135467"/>
            <a:ext cx="11675533" cy="4832092"/>
          </a:xfrm>
          <a:prstGeom prst="rect">
            <a:avLst/>
          </a:prstGeom>
          <a:noFill/>
        </p:spPr>
        <p:txBody>
          <a:bodyPr wrap="square" rtlCol="0">
            <a:spAutoFit/>
          </a:bodyPr>
          <a:lstStyle/>
          <a:p>
            <a:r>
              <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 statement </a:t>
            </a:r>
          </a:p>
          <a:p>
            <a:pPr algn="just"/>
            <a:endPar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Insurance companies face significant challenges in determining accurate and fair premium pricing due to the complexity and variability of risk factors involved. Traditional pricing methods rely on manual calculations and statistical assumptions, which are often insufficient to handle large volumes of data and fail to capture complex, non-linear relationships between variables such as age, BMI, lifestyle habits, and medical history. These limitations can lead to inaccurate pricing, lack of personalization, and increased chances of human error. Therefore, there is a need to develop an efficient and automated system that leverages techniques from Machine Learning to analyze historical data, identify hidden patterns, and predict insurance premiums accurately, ensuring improved decision-making, scalability, and fairness in pricing.</a:t>
            </a:r>
            <a:endParaRPr lang="en-IN" sz="2400" b="1" dirty="0">
              <a:latin typeface="Times New Roman" panose="02020603050405020304" pitchFamily="18" charset="0"/>
              <a:cs typeface="Times New Roman" panose="02020603050405020304" pitchFamily="18" charset="0"/>
            </a:endParaRPr>
          </a:p>
          <a:p>
            <a:pPr lvl="1"/>
            <a:endParaRPr lang="en-IN" b="1" dirty="0"/>
          </a:p>
          <a:p>
            <a:endParaRPr lang="en-IN" dirty="0"/>
          </a:p>
        </p:txBody>
      </p:sp>
    </p:spTree>
    <p:extLst>
      <p:ext uri="{BB962C8B-B14F-4D97-AF65-F5344CB8AC3E}">
        <p14:creationId xmlns:p14="http://schemas.microsoft.com/office/powerpoint/2010/main" val="2348890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34748-B2CD-3D17-7BD3-3670F609CB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91F33B-645F-3F07-5D5B-6C262B13594B}"/>
              </a:ext>
            </a:extLst>
          </p:cNvPr>
          <p:cNvSpPr txBox="1"/>
          <p:nvPr/>
        </p:nvSpPr>
        <p:spPr>
          <a:xfrm>
            <a:off x="254000" y="118532"/>
            <a:ext cx="11734800" cy="7870615"/>
          </a:xfrm>
          <a:prstGeom prst="rect">
            <a:avLst/>
          </a:prstGeom>
          <a:noFill/>
        </p:spPr>
        <p:txBody>
          <a:bodyPr wrap="square" rtlCol="0">
            <a:spAutoFit/>
          </a:bodyPr>
          <a:lstStyle/>
          <a:p>
            <a:r>
              <a:rPr lang="en-IN"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Objectives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main objectives of developing an Insurance Pricing Forecast are:</a:t>
            </a:r>
            <a:endParaRPr lang="en-IN" sz="24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400" dirty="0">
                <a:latin typeface="Times New Roman" panose="02020603050405020304" pitchFamily="18" charset="0"/>
                <a:cs typeface="Times New Roman" panose="02020603050405020304" pitchFamily="18" charset="0"/>
              </a:rPr>
              <a:t>To develop a machine learning model for predicting insurance premiums </a:t>
            </a:r>
          </a:p>
          <a:p>
            <a:pPr marL="457200" lvl="0" indent="-457200">
              <a:buFont typeface="+mj-lt"/>
              <a:buAutoNum type="arabicPeriod"/>
            </a:pPr>
            <a:r>
              <a:rPr lang="en-IN" sz="2400" dirty="0">
                <a:latin typeface="Times New Roman" panose="02020603050405020304" pitchFamily="18" charset="0"/>
                <a:cs typeface="Times New Roman" panose="02020603050405020304" pitchFamily="18" charset="0"/>
              </a:rPr>
              <a:t>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impact of various features (age, BMI, smoking habits, etc.) </a:t>
            </a:r>
          </a:p>
          <a:p>
            <a:pPr marL="457200" lvl="0" indent="-457200">
              <a:buFont typeface="+mj-lt"/>
              <a:buAutoNum type="arabicPeriod"/>
            </a:pPr>
            <a:r>
              <a:rPr lang="en-IN" sz="2400" dirty="0">
                <a:latin typeface="Times New Roman" panose="02020603050405020304" pitchFamily="18" charset="0"/>
                <a:cs typeface="Times New Roman" panose="02020603050405020304" pitchFamily="18" charset="0"/>
              </a:rPr>
              <a:t>To improve prediction accuracy using data-driven techniques </a:t>
            </a:r>
          </a:p>
          <a:p>
            <a:pPr marL="457200" lvl="0" indent="-457200">
              <a:buFont typeface="+mj-lt"/>
              <a:buAutoNum type="arabicPeriod"/>
            </a:pPr>
            <a:r>
              <a:rPr lang="en-IN" sz="2400" dirty="0">
                <a:latin typeface="Times New Roman" panose="02020603050405020304" pitchFamily="18" charset="0"/>
                <a:cs typeface="Times New Roman" panose="02020603050405020304" pitchFamily="18" charset="0"/>
              </a:rPr>
              <a:t>To automate the insurance pricing process </a:t>
            </a:r>
          </a:p>
          <a:p>
            <a:pPr marL="457200" lvl="0" indent="-457200">
              <a:buFont typeface="+mj-lt"/>
              <a:buAutoNum type="arabicPeriod"/>
            </a:pPr>
            <a:r>
              <a:rPr lang="en-IN" sz="2400" dirty="0">
                <a:latin typeface="Times New Roman" panose="02020603050405020304" pitchFamily="18" charset="0"/>
                <a:cs typeface="Times New Roman" panose="02020603050405020304" pitchFamily="18" charset="0"/>
              </a:rPr>
              <a:t>To gain practical experience in machine learning model development</a:t>
            </a:r>
          </a:p>
          <a:p>
            <a:r>
              <a:rPr lang="en-US" dirty="0"/>
              <a:t> </a:t>
            </a:r>
            <a:endParaRPr lang="en-IN" sz="1600" dirty="0"/>
          </a:p>
          <a:p>
            <a:pPr lvl="0"/>
            <a:r>
              <a:rPr lang="en-IN"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Applications</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Personalized Premium Calculation:</a:t>
            </a:r>
            <a:r>
              <a:rPr lang="en-IN" sz="2400" dirty="0">
                <a:latin typeface="Times New Roman" panose="02020603050405020304" pitchFamily="18" charset="0"/>
                <a:cs typeface="Times New Roman" panose="02020603050405020304" pitchFamily="18" charset="0"/>
              </a:rPr>
              <a:t> Calculates insurance cost based on individual risk factors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Risk Assessment:</a:t>
            </a:r>
            <a:r>
              <a:rPr lang="en-IN" sz="2400" dirty="0">
                <a:latin typeface="Times New Roman" panose="02020603050405020304" pitchFamily="18" charset="0"/>
                <a:cs typeface="Times New Roman" panose="02020603050405020304" pitchFamily="18" charset="0"/>
              </a:rPr>
              <a:t> Helps identify high-risk and low-risk customers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Automated Pricing:</a:t>
            </a:r>
            <a:r>
              <a:rPr lang="en-IN" sz="2400" dirty="0">
                <a:latin typeface="Times New Roman" panose="02020603050405020304" pitchFamily="18" charset="0"/>
                <a:cs typeface="Times New Roman" panose="02020603050405020304" pitchFamily="18" charset="0"/>
              </a:rPr>
              <a:t> Reduces manual effort and improves efficiency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Fraud Detection:</a:t>
            </a:r>
            <a:r>
              <a:rPr lang="en-IN" sz="2400" dirty="0">
                <a:latin typeface="Times New Roman" panose="02020603050405020304" pitchFamily="18" charset="0"/>
                <a:cs typeface="Times New Roman" panose="02020603050405020304" pitchFamily="18" charset="0"/>
              </a:rPr>
              <a:t> Identifies unusual or suspicious patterns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Customer Segmentation:</a:t>
            </a:r>
            <a:r>
              <a:rPr lang="en-IN" sz="2400" dirty="0">
                <a:latin typeface="Times New Roman" panose="02020603050405020304" pitchFamily="18" charset="0"/>
                <a:cs typeface="Times New Roman" panose="02020603050405020304" pitchFamily="18" charset="0"/>
              </a:rPr>
              <a:t> Groups users for better policy design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Real-Time Prediction:</a:t>
            </a:r>
            <a:r>
              <a:rPr lang="en-IN" sz="2400" dirty="0">
                <a:latin typeface="Times New Roman" panose="02020603050405020304" pitchFamily="18" charset="0"/>
                <a:cs typeface="Times New Roman" panose="02020603050405020304" pitchFamily="18" charset="0"/>
              </a:rPr>
              <a:t> Provides instant premium estimates in web apps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Policy</a:t>
            </a:r>
            <a:r>
              <a:rPr lang="en-IN" sz="2400" b="1" dirty="0">
                <a:latin typeface="Times New Roman" panose="02020603050405020304" pitchFamily="18" charset="0"/>
                <a:cs typeface="Times New Roman" panose="02020603050405020304" pitchFamily="18" charset="0"/>
              </a:rPr>
              <a:t> Optimization:</a:t>
            </a:r>
            <a:r>
              <a:rPr lang="en-IN" sz="2400" dirty="0">
                <a:latin typeface="Times New Roman" panose="02020603050405020304" pitchFamily="18" charset="0"/>
                <a:cs typeface="Times New Roman" panose="02020603050405020304" pitchFamily="18" charset="0"/>
              </a:rPr>
              <a:t> Helps companies design better pricing strategies</a:t>
            </a:r>
          </a:p>
          <a:p>
            <a:br>
              <a:rPr lang="en-IN" dirty="0"/>
            </a:br>
            <a:endParaRPr lang="en-IN" sz="36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85547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2F4E0-F0E3-DA72-8AE7-5D84D3BA761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1463ED7-7CDE-0099-0194-7B2E04DD2B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5733" y="846667"/>
            <a:ext cx="10786534" cy="5664200"/>
          </a:xfrm>
          <a:prstGeom prst="rect">
            <a:avLst/>
          </a:prstGeom>
        </p:spPr>
      </p:pic>
      <p:sp>
        <p:nvSpPr>
          <p:cNvPr id="3" name="TextBox 2">
            <a:extLst>
              <a:ext uri="{FF2B5EF4-FFF2-40B4-BE49-F238E27FC236}">
                <a16:creationId xmlns:a16="http://schemas.microsoft.com/office/drawing/2014/main" id="{7B969FB2-ADFC-0842-8B5A-FC74FA8F864D}"/>
              </a:ext>
            </a:extLst>
          </p:cNvPr>
          <p:cNvSpPr txBox="1"/>
          <p:nvPr/>
        </p:nvSpPr>
        <p:spPr>
          <a:xfrm>
            <a:off x="575733" y="347133"/>
            <a:ext cx="336973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Flow chart:</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82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F2FA3-E149-9048-BFF3-87B5033375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192099-8710-688B-E825-C719F5024B99}"/>
              </a:ext>
            </a:extLst>
          </p:cNvPr>
          <p:cNvSpPr txBox="1"/>
          <p:nvPr/>
        </p:nvSpPr>
        <p:spPr>
          <a:xfrm>
            <a:off x="338666" y="321732"/>
            <a:ext cx="11497733" cy="3785652"/>
          </a:xfrm>
          <a:prstGeom prst="rect">
            <a:avLst/>
          </a:prstGeom>
          <a:noFill/>
        </p:spPr>
        <p:txBody>
          <a:bodyPr wrap="square" rtlCol="0">
            <a:spAutoFit/>
          </a:bodyPr>
          <a:lstStyle/>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B620D40-0727-3147-49D5-7F999EAE4BA9}"/>
              </a:ext>
            </a:extLst>
          </p:cNvPr>
          <p:cNvSpPr txBox="1"/>
          <p:nvPr/>
        </p:nvSpPr>
        <p:spPr>
          <a:xfrm>
            <a:off x="160867" y="143933"/>
            <a:ext cx="11692467" cy="7048083"/>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1. Data Collection and Preparation</a:t>
            </a:r>
            <a:endParaRPr lang="en-IN" sz="24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This is the starting point of the pipeline. </a:t>
            </a:r>
          </a:p>
          <a:p>
            <a:pPr lvl="0"/>
            <a:r>
              <a:rPr lang="en-IN" sz="2000" dirty="0">
                <a:latin typeface="Times New Roman" panose="02020603050405020304" pitchFamily="18" charset="0"/>
                <a:cs typeface="Times New Roman" panose="02020603050405020304" pitchFamily="18" charset="0"/>
              </a:rPr>
              <a:t>Data is collected from sources like datasets, APIs, or databases. </a:t>
            </a:r>
          </a:p>
          <a:p>
            <a:pPr lvl="0"/>
            <a:r>
              <a:rPr lang="en-IN" sz="2000" dirty="0">
                <a:latin typeface="Times New Roman" panose="02020603050405020304" pitchFamily="18" charset="0"/>
                <a:cs typeface="Times New Roman" panose="02020603050405020304" pitchFamily="18" charset="0"/>
              </a:rPr>
              <a:t>Then it is </a:t>
            </a:r>
            <a:r>
              <a:rPr lang="en-IN" sz="2000" b="1" dirty="0">
                <a:latin typeface="Times New Roman" panose="02020603050405020304" pitchFamily="18" charset="0"/>
                <a:cs typeface="Times New Roman" panose="02020603050405020304" pitchFamily="18" charset="0"/>
              </a:rPr>
              <a:t>cleaned and prepared</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Handling missing values </a:t>
            </a:r>
          </a:p>
          <a:p>
            <a:pPr lvl="1"/>
            <a:r>
              <a:rPr lang="en-IN" sz="2000" dirty="0">
                <a:latin typeface="Times New Roman" panose="02020603050405020304" pitchFamily="18" charset="0"/>
                <a:cs typeface="Times New Roman" panose="02020603050405020304" pitchFamily="18" charset="0"/>
              </a:rPr>
              <a:t>Removing duplicates </a:t>
            </a:r>
          </a:p>
          <a:p>
            <a:pPr lvl="1"/>
            <a:r>
              <a:rPr lang="en-IN" sz="2000" dirty="0">
                <a:latin typeface="Times New Roman" panose="02020603050405020304" pitchFamily="18" charset="0"/>
                <a:cs typeface="Times New Roman" panose="02020603050405020304" pitchFamily="18" charset="0"/>
              </a:rPr>
              <a:t>Encoding categorical data </a:t>
            </a:r>
          </a:p>
          <a:p>
            <a:pPr lvl="1"/>
            <a:r>
              <a:rPr lang="en-IN" sz="2000" dirty="0">
                <a:latin typeface="Times New Roman" panose="02020603050405020304" pitchFamily="18" charset="0"/>
                <a:cs typeface="Times New Roman" panose="02020603050405020304" pitchFamily="18" charset="0"/>
              </a:rPr>
              <a:t>Normalization/standardization </a:t>
            </a:r>
          </a:p>
          <a:p>
            <a:r>
              <a:rPr lang="en-IN" sz="2000" dirty="0">
                <a:latin typeface="Times New Roman" panose="02020603050405020304" pitchFamily="18" charset="0"/>
                <a:cs typeface="Times New Roman" panose="02020603050405020304" pitchFamily="18" charset="0"/>
              </a:rPr>
              <a:t> Output: </a:t>
            </a:r>
            <a:r>
              <a:rPr lang="en-IN" sz="2000" b="1" dirty="0">
                <a:latin typeface="Times New Roman" panose="02020603050405020304" pitchFamily="18" charset="0"/>
                <a:cs typeface="Times New Roman" panose="02020603050405020304" pitchFamily="18" charset="0"/>
              </a:rPr>
              <a:t>Clean dataset ready for modelling</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2. Choosing Algorithm</a:t>
            </a:r>
            <a:endParaRPr lang="en-IN" sz="24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Different algorithms are selected based on the problem type: </a:t>
            </a:r>
          </a:p>
          <a:p>
            <a:pPr lvl="1"/>
            <a:r>
              <a:rPr lang="en-IN" sz="2000" dirty="0">
                <a:latin typeface="Times New Roman" panose="02020603050405020304" pitchFamily="18" charset="0"/>
                <a:cs typeface="Times New Roman" panose="02020603050405020304" pitchFamily="18" charset="0"/>
              </a:rPr>
              <a:t>Regression (for price prediction) </a:t>
            </a:r>
          </a:p>
          <a:p>
            <a:pPr lvl="1"/>
            <a:r>
              <a:rPr lang="en-IN" sz="2000" dirty="0">
                <a:latin typeface="Times New Roman" panose="02020603050405020304" pitchFamily="18" charset="0"/>
                <a:cs typeface="Times New Roman" panose="02020603050405020304" pitchFamily="18" charset="0"/>
              </a:rPr>
              <a:t>Classification (for categories) </a:t>
            </a:r>
          </a:p>
          <a:p>
            <a:pPr lvl="0"/>
            <a:r>
              <a:rPr lang="en-IN" sz="2000" dirty="0">
                <a:latin typeface="Times New Roman" panose="02020603050405020304" pitchFamily="18" charset="0"/>
                <a:cs typeface="Times New Roman" panose="02020603050405020304" pitchFamily="18" charset="0"/>
              </a:rPr>
              <a:t>Multiple models are tested (called </a:t>
            </a:r>
            <a:r>
              <a:rPr lang="en-IN" sz="2000" b="1" dirty="0">
                <a:latin typeface="Times New Roman" panose="02020603050405020304" pitchFamily="18" charset="0"/>
                <a:cs typeface="Times New Roman" panose="02020603050405020304" pitchFamily="18" charset="0"/>
              </a:rPr>
              <a:t>candidate models</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Examples:</a:t>
            </a:r>
          </a:p>
          <a:p>
            <a:pPr lvl="0"/>
            <a:r>
              <a:rPr lang="en-IN" sz="2000" dirty="0">
                <a:latin typeface="Times New Roman" panose="02020603050405020304" pitchFamily="18" charset="0"/>
                <a:cs typeface="Times New Roman" panose="02020603050405020304" pitchFamily="18" charset="0"/>
              </a:rPr>
              <a:t>Linear Regression </a:t>
            </a:r>
          </a:p>
          <a:p>
            <a:pPr lvl="0"/>
            <a:r>
              <a:rPr lang="en-IN" sz="2000" dirty="0">
                <a:latin typeface="Times New Roman" panose="02020603050405020304" pitchFamily="18" charset="0"/>
                <a:cs typeface="Times New Roman" panose="02020603050405020304" pitchFamily="18" charset="0"/>
              </a:rPr>
              <a:t>Random Forest </a:t>
            </a:r>
          </a:p>
          <a:p>
            <a:pPr lvl="0"/>
            <a:r>
              <a:rPr lang="en-IN" sz="2000" dirty="0">
                <a:latin typeface="Times New Roman" panose="02020603050405020304" pitchFamily="18" charset="0"/>
                <a:cs typeface="Times New Roman" panose="02020603050405020304" pitchFamily="18" charset="0"/>
              </a:rPr>
              <a:t>Gradient Boosting</a:t>
            </a:r>
          </a:p>
          <a:p>
            <a:endParaRPr lang="en-IN" sz="2400" dirty="0">
              <a:latin typeface="Times New Roman" panose="02020603050405020304" pitchFamily="18" charset="0"/>
              <a:cs typeface="Times New Roman" panose="02020603050405020304" pitchFamily="18" charset="0"/>
            </a:endParaRPr>
          </a:p>
          <a:p>
            <a:r>
              <a:rPr lang="en-US" dirty="0"/>
              <a:t> </a:t>
            </a:r>
            <a:endParaRPr lang="en-IN" sz="1600" dirty="0"/>
          </a:p>
          <a:p>
            <a:endParaRPr lang="en-IN" dirty="0"/>
          </a:p>
        </p:txBody>
      </p:sp>
    </p:spTree>
    <p:extLst>
      <p:ext uri="{BB962C8B-B14F-4D97-AF65-F5344CB8AC3E}">
        <p14:creationId xmlns:p14="http://schemas.microsoft.com/office/powerpoint/2010/main" val="2762888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E27D2-70A1-56CB-48D4-92863E5DAB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EEFC64-27B6-179B-8026-E4B4F3DE3C7F}"/>
              </a:ext>
            </a:extLst>
          </p:cNvPr>
          <p:cNvSpPr txBox="1"/>
          <p:nvPr/>
        </p:nvSpPr>
        <p:spPr>
          <a:xfrm>
            <a:off x="338666" y="321732"/>
            <a:ext cx="11497733" cy="6617196"/>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3. Model Training</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The selected algorithms are trained using </a:t>
            </a:r>
            <a:r>
              <a:rPr lang="en-IN" sz="2400" b="1" dirty="0">
                <a:latin typeface="Times New Roman" panose="02020603050405020304" pitchFamily="18" charset="0"/>
                <a:cs typeface="Times New Roman" panose="02020603050405020304" pitchFamily="18" charset="0"/>
              </a:rPr>
              <a:t>training data</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The model learns patterns between input (features) and output (target) </a:t>
            </a:r>
          </a:p>
          <a:p>
            <a:r>
              <a:rPr lang="en-IN" sz="2400" dirty="0">
                <a:latin typeface="Times New Roman" panose="02020603050405020304" pitchFamily="18" charset="0"/>
                <a:cs typeface="Times New Roman" panose="02020603050405020304" pitchFamily="18" charset="0"/>
              </a:rPr>
              <a:t> Important:</a:t>
            </a:r>
          </a:p>
          <a:p>
            <a:pPr lvl="0"/>
            <a:r>
              <a:rPr lang="en-IN" sz="2400" dirty="0">
                <a:latin typeface="Times New Roman" panose="02020603050405020304" pitchFamily="18" charset="0"/>
                <a:cs typeface="Times New Roman" panose="02020603050405020304" pitchFamily="18" charset="0"/>
              </a:rPr>
              <a:t>Training data = data used to teach the model </a:t>
            </a:r>
          </a:p>
          <a:p>
            <a:pPr lvl="0"/>
            <a:r>
              <a:rPr lang="en-IN" sz="2400" dirty="0">
                <a:latin typeface="Times New Roman" panose="02020603050405020304" pitchFamily="18" charset="0"/>
                <a:cs typeface="Times New Roman" panose="02020603050405020304" pitchFamily="18" charset="0"/>
              </a:rPr>
              <a:t>The model adjusts its internal parameters </a:t>
            </a:r>
          </a:p>
          <a:p>
            <a:r>
              <a:rPr lang="en-IN" sz="2400" dirty="0">
                <a:latin typeface="Times New Roman" panose="02020603050405020304" pitchFamily="18" charset="0"/>
                <a:cs typeface="Times New Roman" panose="02020603050405020304" pitchFamily="18" charset="0"/>
              </a:rPr>
              <a:t> Output: </a:t>
            </a:r>
            <a:r>
              <a:rPr lang="en-IN" sz="2400" b="1" dirty="0">
                <a:latin typeface="Times New Roman" panose="02020603050405020304" pitchFamily="18" charset="0"/>
                <a:cs typeface="Times New Roman" panose="02020603050405020304" pitchFamily="18" charset="0"/>
              </a:rPr>
              <a:t>Trained model</a:t>
            </a:r>
          </a:p>
          <a:p>
            <a:endParaRPr lang="en-IN" sz="20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4. Model Evaluation and Testing</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The trained model is tested using: </a:t>
            </a:r>
          </a:p>
          <a:p>
            <a:pPr lvl="1"/>
            <a:r>
              <a:rPr lang="en-IN" sz="2400" b="1" dirty="0">
                <a:latin typeface="Times New Roman" panose="02020603050405020304" pitchFamily="18" charset="0"/>
                <a:cs typeface="Times New Roman" panose="02020603050405020304" pitchFamily="18" charset="0"/>
              </a:rPr>
              <a:t>Validation data</a:t>
            </a:r>
            <a:r>
              <a:rPr lang="en-IN" sz="2400" dirty="0">
                <a:latin typeface="Times New Roman" panose="02020603050405020304" pitchFamily="18" charset="0"/>
                <a:cs typeface="Times New Roman" panose="02020603050405020304" pitchFamily="18" charset="0"/>
              </a:rPr>
              <a:t> (for tuning) </a:t>
            </a:r>
          </a:p>
          <a:p>
            <a:pPr lvl="1"/>
            <a:r>
              <a:rPr lang="en-IN" sz="2400" b="1" dirty="0">
                <a:latin typeface="Times New Roman" panose="02020603050405020304" pitchFamily="18" charset="0"/>
                <a:cs typeface="Times New Roman" panose="02020603050405020304" pitchFamily="18" charset="0"/>
              </a:rPr>
              <a:t>Test data</a:t>
            </a:r>
            <a:r>
              <a:rPr lang="en-IN" sz="2400" dirty="0">
                <a:latin typeface="Times New Roman" panose="02020603050405020304" pitchFamily="18" charset="0"/>
                <a:cs typeface="Times New Roman" panose="02020603050405020304" pitchFamily="18" charset="0"/>
              </a:rPr>
              <a:t> (for final evaluation) </a:t>
            </a:r>
          </a:p>
          <a:p>
            <a:pPr lvl="0"/>
            <a:r>
              <a:rPr lang="en-IN" sz="2400" dirty="0">
                <a:latin typeface="Times New Roman" panose="02020603050405020304" pitchFamily="18" charset="0"/>
                <a:cs typeface="Times New Roman" panose="02020603050405020304" pitchFamily="18" charset="0"/>
              </a:rPr>
              <a:t>Performance is measured using metrics: </a:t>
            </a:r>
          </a:p>
          <a:p>
            <a:pPr lvl="1"/>
            <a:r>
              <a:rPr lang="en-IN" sz="2400" dirty="0">
                <a:latin typeface="Times New Roman" panose="02020603050405020304" pitchFamily="18" charset="0"/>
                <a:cs typeface="Times New Roman" panose="02020603050405020304" pitchFamily="18" charset="0"/>
              </a:rPr>
              <a:t>MAE (Mean Absolute Error) </a:t>
            </a:r>
          </a:p>
          <a:p>
            <a:pPr lvl="1"/>
            <a:r>
              <a:rPr lang="en-IN" sz="2400" dirty="0">
                <a:latin typeface="Times New Roman" panose="02020603050405020304" pitchFamily="18" charset="0"/>
                <a:cs typeface="Times New Roman" panose="02020603050405020304" pitchFamily="18" charset="0"/>
              </a:rPr>
              <a:t>MSE (Mean Squared Error) </a:t>
            </a:r>
          </a:p>
          <a:p>
            <a:pPr lvl="1"/>
            <a:r>
              <a:rPr lang="en-IN" sz="2400" dirty="0">
                <a:latin typeface="Times New Roman" panose="02020603050405020304" pitchFamily="18" charset="0"/>
                <a:cs typeface="Times New Roman" panose="02020603050405020304" pitchFamily="18" charset="0"/>
              </a:rPr>
              <a:t>R² Score </a:t>
            </a:r>
          </a:p>
          <a:p>
            <a:r>
              <a:rPr lang="en-IN" sz="2400" dirty="0">
                <a:latin typeface="Times New Roman" panose="02020603050405020304" pitchFamily="18" charset="0"/>
                <a:cs typeface="Times New Roman" panose="02020603050405020304" pitchFamily="18" charset="0"/>
              </a:rPr>
              <a:t>Output: </a:t>
            </a:r>
            <a:r>
              <a:rPr lang="en-IN" sz="2400" b="1" dirty="0">
                <a:latin typeface="Times New Roman" panose="02020603050405020304" pitchFamily="18" charset="0"/>
                <a:cs typeface="Times New Roman" panose="02020603050405020304" pitchFamily="18" charset="0"/>
              </a:rPr>
              <a:t>Tested model + performance metrics</a:t>
            </a:r>
            <a:endParaRPr lang="en-IN" sz="24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28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856CF-CE12-63B4-746D-2532DA8BB8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A92407-B36C-65E2-86A9-3F4CAF3DC89B}"/>
              </a:ext>
            </a:extLst>
          </p:cNvPr>
          <p:cNvSpPr txBox="1"/>
          <p:nvPr/>
        </p:nvSpPr>
        <p:spPr>
          <a:xfrm>
            <a:off x="228600" y="203200"/>
            <a:ext cx="11717867" cy="606319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5. Model Deployment</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Once the model performs well, it is deployed into a real system </a:t>
            </a:r>
          </a:p>
          <a:p>
            <a:pPr lvl="0"/>
            <a:r>
              <a:rPr lang="en-IN" sz="2400" dirty="0">
                <a:latin typeface="Times New Roman" panose="02020603050405020304" pitchFamily="18" charset="0"/>
                <a:cs typeface="Times New Roman" panose="02020603050405020304" pitchFamily="18" charset="0"/>
              </a:rPr>
              <a:t>It can be integrated into: </a:t>
            </a:r>
          </a:p>
          <a:p>
            <a:pPr lvl="1"/>
            <a:r>
              <a:rPr lang="en-IN" sz="2400" dirty="0">
                <a:latin typeface="Times New Roman" panose="02020603050405020304" pitchFamily="18" charset="0"/>
                <a:cs typeface="Times New Roman" panose="02020603050405020304" pitchFamily="18" charset="0"/>
              </a:rPr>
              <a:t>Web applications </a:t>
            </a:r>
          </a:p>
          <a:p>
            <a:pPr lvl="1"/>
            <a:r>
              <a:rPr lang="en-IN" sz="2400" dirty="0">
                <a:latin typeface="Times New Roman" panose="02020603050405020304" pitchFamily="18" charset="0"/>
                <a:cs typeface="Times New Roman" panose="02020603050405020304" pitchFamily="18" charset="0"/>
              </a:rPr>
              <a:t>Mobile apps </a:t>
            </a:r>
          </a:p>
          <a:p>
            <a:pPr lvl="1"/>
            <a:r>
              <a:rPr lang="en-IN" sz="2400" dirty="0">
                <a:latin typeface="Times New Roman" panose="02020603050405020304" pitchFamily="18" charset="0"/>
                <a:cs typeface="Times New Roman" panose="02020603050405020304" pitchFamily="18" charset="0"/>
              </a:rPr>
              <a:t>APIs </a:t>
            </a:r>
          </a:p>
          <a:p>
            <a:r>
              <a:rPr lang="en-IN" sz="2400" dirty="0">
                <a:latin typeface="Times New Roman" panose="02020603050405020304" pitchFamily="18" charset="0"/>
                <a:cs typeface="Times New Roman" panose="02020603050405020304" pitchFamily="18" charset="0"/>
              </a:rPr>
              <a:t>Now the model starts working on </a:t>
            </a:r>
            <a:r>
              <a:rPr lang="en-IN" sz="2400" b="1" dirty="0">
                <a:latin typeface="Times New Roman" panose="02020603050405020304" pitchFamily="18" charset="0"/>
                <a:cs typeface="Times New Roman" panose="02020603050405020304" pitchFamily="18" charset="0"/>
              </a:rPr>
              <a:t>real-world (production) data</a:t>
            </a:r>
          </a:p>
          <a:p>
            <a:endParaRPr lang="en-IN" sz="20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6. Monitoring</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After deployment, the model is continuously monitored: </a:t>
            </a:r>
          </a:p>
          <a:p>
            <a:pPr lvl="1"/>
            <a:r>
              <a:rPr lang="en-IN" sz="2400" dirty="0">
                <a:latin typeface="Times New Roman" panose="02020603050405020304" pitchFamily="18" charset="0"/>
                <a:cs typeface="Times New Roman" panose="02020603050405020304" pitchFamily="18" charset="0"/>
              </a:rPr>
              <a:t>Accuracy over time </a:t>
            </a:r>
          </a:p>
          <a:p>
            <a:pPr lvl="1"/>
            <a:r>
              <a:rPr lang="en-IN" sz="2400" dirty="0">
                <a:latin typeface="Times New Roman" panose="02020603050405020304" pitchFamily="18" charset="0"/>
                <a:cs typeface="Times New Roman" panose="02020603050405020304" pitchFamily="18" charset="0"/>
              </a:rPr>
              <a:t>Data changes </a:t>
            </a:r>
          </a:p>
          <a:p>
            <a:pPr lvl="1"/>
            <a:r>
              <a:rPr lang="en-IN" sz="2400" dirty="0">
                <a:latin typeface="Times New Roman" panose="02020603050405020304" pitchFamily="18" charset="0"/>
                <a:cs typeface="Times New Roman" panose="02020603050405020304" pitchFamily="18" charset="0"/>
              </a:rPr>
              <a:t>Errors or failures </a:t>
            </a:r>
          </a:p>
          <a:p>
            <a:pPr lvl="0"/>
            <a:r>
              <a:rPr lang="en-IN" sz="2400" dirty="0">
                <a:latin typeface="Times New Roman" panose="02020603050405020304" pitchFamily="18" charset="0"/>
                <a:cs typeface="Times New Roman" panose="02020603050405020304" pitchFamily="18" charset="0"/>
              </a:rPr>
              <a:t>Real-world data changes → model performance may drop </a:t>
            </a:r>
          </a:p>
          <a:p>
            <a:endParaRPr lang="en-IN" sz="2000" dirty="0">
              <a:latin typeface="Times New Roman" panose="02020603050405020304" pitchFamily="18" charset="0"/>
              <a:cs typeface="Times New Roman" panose="02020603050405020304" pitchFamily="18" charset="0"/>
            </a:endParaRPr>
          </a:p>
          <a:p>
            <a:r>
              <a:rPr lang="en-IN" dirty="0"/>
              <a:t> </a:t>
            </a:r>
            <a:endParaRPr lang="en-IN" sz="1600" dirty="0"/>
          </a:p>
          <a:p>
            <a:endParaRPr lang="en-IN" dirty="0"/>
          </a:p>
        </p:txBody>
      </p:sp>
    </p:spTree>
    <p:extLst>
      <p:ext uri="{BB962C8B-B14F-4D97-AF65-F5344CB8AC3E}">
        <p14:creationId xmlns:p14="http://schemas.microsoft.com/office/powerpoint/2010/main" val="2323007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A9A95-82B5-E330-2E36-A08D8B264B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6A68FA-4EA5-D939-A54B-87CAA7EE1645}"/>
              </a:ext>
            </a:extLst>
          </p:cNvPr>
          <p:cNvSpPr txBox="1"/>
          <p:nvPr/>
        </p:nvSpPr>
        <p:spPr>
          <a:xfrm>
            <a:off x="279400" y="338666"/>
            <a:ext cx="11209867" cy="2215991"/>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7</a:t>
            </a:r>
            <a:r>
              <a:rPr lang="en-IN"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Re-Training Iteration (Very Important)</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If performance decreases: </a:t>
            </a:r>
          </a:p>
          <a:p>
            <a:pPr lvl="1"/>
            <a:r>
              <a:rPr lang="en-IN" sz="2400" dirty="0">
                <a:latin typeface="Times New Roman" panose="02020603050405020304" pitchFamily="18" charset="0"/>
                <a:cs typeface="Times New Roman" panose="02020603050405020304" pitchFamily="18" charset="0"/>
              </a:rPr>
              <a:t>New data is collected </a:t>
            </a:r>
          </a:p>
          <a:p>
            <a:pPr lvl="1"/>
            <a:r>
              <a:rPr lang="en-IN" sz="2400" dirty="0">
                <a:latin typeface="Times New Roman" panose="02020603050405020304" pitchFamily="18" charset="0"/>
                <a:cs typeface="Times New Roman" panose="02020603050405020304" pitchFamily="18" charset="0"/>
              </a:rPr>
              <a:t>Model is retrained </a:t>
            </a:r>
          </a:p>
          <a:p>
            <a:r>
              <a:rPr lang="en-IN" sz="2400" dirty="0">
                <a:latin typeface="Times New Roman" panose="02020603050405020304" pitchFamily="18" charset="0"/>
                <a:cs typeface="Times New Roman" panose="02020603050405020304" pitchFamily="18" charset="0"/>
              </a:rPr>
              <a:t>This creates a </a:t>
            </a:r>
            <a:r>
              <a:rPr lang="en-IN" sz="2400" b="1" dirty="0">
                <a:latin typeface="Times New Roman" panose="02020603050405020304" pitchFamily="18" charset="0"/>
                <a:cs typeface="Times New Roman" panose="02020603050405020304" pitchFamily="18" charset="0"/>
              </a:rPr>
              <a:t>continuous learning loop</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93247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06328-2E65-96CA-0AE8-3D47F61AFBF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3BCA0B8-4179-43EA-F5AD-1665402787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533" y="278073"/>
            <a:ext cx="11015134" cy="6152360"/>
          </a:xfrm>
          <a:prstGeom prst="rect">
            <a:avLst/>
          </a:prstGeom>
        </p:spPr>
      </p:pic>
    </p:spTree>
    <p:extLst>
      <p:ext uri="{BB962C8B-B14F-4D97-AF65-F5344CB8AC3E}">
        <p14:creationId xmlns:p14="http://schemas.microsoft.com/office/powerpoint/2010/main" val="301635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F1451-020E-5483-BEA9-36CF7B1D8A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E8BD2A-4C3E-14AF-355D-02EE3FA34C35}"/>
              </a:ext>
            </a:extLst>
          </p:cNvPr>
          <p:cNvSpPr txBox="1"/>
          <p:nvPr/>
        </p:nvSpPr>
        <p:spPr>
          <a:xfrm>
            <a:off x="76200" y="76201"/>
            <a:ext cx="11565467" cy="7049684"/>
          </a:xfrm>
          <a:prstGeom prst="rect">
            <a:avLst/>
          </a:prstGeom>
          <a:noFill/>
        </p:spPr>
        <p:txBody>
          <a:bodyPr wrap="square" rtlCol="0">
            <a:spAutoFit/>
          </a:bodyPr>
          <a:lstStyle/>
          <a:p>
            <a:r>
              <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Gradient Boosting Algorithm:</a:t>
            </a:r>
          </a:p>
          <a:p>
            <a:r>
              <a:rPr lang="en-US" sz="2400" dirty="0">
                <a:latin typeface="Times New Roman" panose="02020603050405020304" pitchFamily="18" charset="0"/>
                <a:cs typeface="Times New Roman" panose="02020603050405020304" pitchFamily="18" charset="0"/>
              </a:rPr>
              <a:t>Gradient Boosting is a powerful ensemble machine learning algorithm that builds models sequentially, each correcting the errors of the previous one, using gradient descent to minimize a chosen loss function. It is widely used for regression, classification, and ranking tasks due to its high accuracy and flexibility</a:t>
            </a:r>
            <a:r>
              <a:rPr lang="en-US" sz="2400" b="1" dirty="0">
                <a:latin typeface="Times New Roman" panose="02020603050405020304" pitchFamily="18" charset="0"/>
                <a:cs typeface="Times New Roman" panose="02020603050405020304" pitchFamily="18" charset="0"/>
              </a:rPr>
              <a:t>.</a:t>
            </a:r>
          </a:p>
          <a:p>
            <a:endParaRPr lang="en-US" sz="2400" b="1" dirty="0">
              <a:latin typeface="Times New Roman" panose="02020603050405020304" pitchFamily="18" charset="0"/>
              <a:cs typeface="Times New Roman" panose="02020603050405020304" pitchFamily="18" charset="0"/>
            </a:endParaRPr>
          </a:p>
          <a:p>
            <a:r>
              <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How Gradient Boosting Works?</a:t>
            </a:r>
          </a:p>
          <a:p>
            <a:pPr marL="457200" indent="-457200">
              <a:buAutoNum type="arabicPeriod"/>
            </a:pPr>
            <a:r>
              <a:rPr lang="en-US" sz="2400" dirty="0">
                <a:latin typeface="Times New Roman" panose="02020603050405020304" pitchFamily="18" charset="0"/>
                <a:cs typeface="Times New Roman" panose="02020603050405020304" pitchFamily="18" charset="0"/>
              </a:rPr>
              <a:t>Initialize Model   - Start with a simple model (often a constant prediction like the mean of the target values).</a:t>
            </a:r>
          </a:p>
          <a:p>
            <a:pPr marL="457200" indent="-457200">
              <a:buAutoNum type="arabicPeriod"/>
            </a:pPr>
            <a:r>
              <a:rPr lang="en-US" sz="2400" dirty="0">
                <a:latin typeface="Times New Roman" panose="02020603050405020304" pitchFamily="18" charset="0"/>
                <a:cs typeface="Times New Roman" panose="02020603050405020304" pitchFamily="18" charset="0"/>
              </a:rPr>
              <a:t> Compute Residuals   - Calculate the errors (residuals) between predictions and actual values.</a:t>
            </a:r>
          </a:p>
          <a:p>
            <a:pPr marL="457200" indent="-457200">
              <a:buAutoNum type="arabicPeriod"/>
            </a:pPr>
            <a:r>
              <a:rPr lang="en-US" sz="2400" dirty="0">
                <a:latin typeface="Times New Roman" panose="02020603050405020304" pitchFamily="18" charset="0"/>
                <a:cs typeface="Times New Roman" panose="02020603050405020304" pitchFamily="18" charset="0"/>
              </a:rPr>
              <a:t> Fit Weak Learner   - Train a weak learner (commonly a decision tree) to predict these residuals.</a:t>
            </a:r>
          </a:p>
          <a:p>
            <a:pPr marL="457200" indent="-457200">
              <a:buAutoNum type="arabicPeriod"/>
            </a:pPr>
            <a:r>
              <a:rPr lang="en-US" sz="2400" dirty="0">
                <a:latin typeface="Times New Roman" panose="02020603050405020304" pitchFamily="18" charset="0"/>
                <a:cs typeface="Times New Roman" panose="02020603050405020304" pitchFamily="18" charset="0"/>
              </a:rPr>
              <a:t>4. Update Model   - Add the new learner’s predictions to the ensemble, scaled by a learning rate (η).</a:t>
            </a:r>
          </a:p>
          <a:p>
            <a:pPr marL="457200" indent="-457200">
              <a:buAutoNum type="arabicPeriod"/>
            </a:pPr>
            <a:r>
              <a:rPr lang="en-US" sz="2400" dirty="0">
                <a:latin typeface="Times New Roman" panose="02020603050405020304" pitchFamily="18" charset="0"/>
                <a:cs typeface="Times New Roman" panose="02020603050405020304" pitchFamily="18" charset="0"/>
              </a:rPr>
              <a:t> Repeat Iteratively   - Continue building new learners, each correcting the mistakes of the ensemble so far, until a stopping criterion (like max iterations or minimal improvement) is reached.</a:t>
            </a:r>
          </a:p>
        </p:txBody>
      </p:sp>
    </p:spTree>
    <p:extLst>
      <p:ext uri="{BB962C8B-B14F-4D97-AF65-F5344CB8AC3E}">
        <p14:creationId xmlns:p14="http://schemas.microsoft.com/office/powerpoint/2010/main" val="863172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3C3DB-5A7F-7432-B578-85BA08AB83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E10A64-383C-5A94-78A1-596382381468}"/>
              </a:ext>
            </a:extLst>
          </p:cNvPr>
          <p:cNvSpPr txBox="1"/>
          <p:nvPr/>
        </p:nvSpPr>
        <p:spPr>
          <a:xfrm>
            <a:off x="152400" y="203200"/>
            <a:ext cx="11878733" cy="5386090"/>
          </a:xfrm>
          <a:prstGeom prst="rect">
            <a:avLst/>
          </a:prstGeom>
          <a:noFill/>
        </p:spPr>
        <p:txBody>
          <a:bodyPr wrap="square" rtlCol="0">
            <a:spAutoFit/>
          </a:bodyPr>
          <a:lstStyle/>
          <a:p>
            <a:r>
              <a:rPr lang="en-IN"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Algorithm Steps (Simplified Pseudocode)</a:t>
            </a:r>
          </a:p>
          <a:p>
            <a:endParaRPr lang="en-IN"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Text</a:t>
            </a:r>
          </a:p>
          <a:p>
            <a:r>
              <a:rPr lang="en-IN" sz="2400" dirty="0">
                <a:latin typeface="Times New Roman" panose="02020603050405020304" pitchFamily="18" charset="0"/>
                <a:cs typeface="Times New Roman" panose="02020603050405020304" pitchFamily="18" charset="0"/>
              </a:rPr>
              <a:t>Input: Training data (X, y), number of iterations M, learning rate </a:t>
            </a:r>
            <a:r>
              <a:rPr lang="el-GR" sz="2400" dirty="0">
                <a:latin typeface="Times New Roman" panose="02020603050405020304" pitchFamily="18" charset="0"/>
                <a:cs typeface="Times New Roman" panose="02020603050405020304" pitchFamily="18" charset="0"/>
              </a:rPr>
              <a:t>η</a:t>
            </a:r>
            <a:r>
              <a:rPr lang="en-IN" sz="2400" dirty="0">
                <a:latin typeface="Times New Roman" panose="02020603050405020304" pitchFamily="18" charset="0"/>
                <a:cs typeface="Times New Roman" panose="02020603050405020304" pitchFamily="18" charset="0"/>
              </a:rPr>
              <a:t>Initialize model F0(x) = mean(y)</a:t>
            </a:r>
          </a:p>
          <a:p>
            <a:r>
              <a:rPr lang="en-IN" sz="2400" dirty="0">
                <a:latin typeface="Times New Roman" panose="02020603050405020304" pitchFamily="18" charset="0"/>
                <a:cs typeface="Times New Roman" panose="02020603050405020304" pitchFamily="18" charset="0"/>
              </a:rPr>
              <a:t>For m = 1 to M:    </a:t>
            </a:r>
          </a:p>
          <a:p>
            <a:r>
              <a:rPr lang="en-IN" sz="2400" dirty="0">
                <a:latin typeface="Times New Roman" panose="02020603050405020304" pitchFamily="18" charset="0"/>
                <a:cs typeface="Times New Roman" panose="02020603050405020304" pitchFamily="18" charset="0"/>
              </a:rPr>
              <a:t>Compute residuals: </a:t>
            </a:r>
            <a:r>
              <a:rPr lang="en-IN" sz="2400" dirty="0" err="1">
                <a:latin typeface="Times New Roman" panose="02020603050405020304" pitchFamily="18" charset="0"/>
                <a:cs typeface="Times New Roman" panose="02020603050405020304" pitchFamily="18" charset="0"/>
              </a:rPr>
              <a:t>ri</a:t>
            </a:r>
            <a:r>
              <a:rPr lang="en-IN" sz="2400" dirty="0">
                <a:latin typeface="Times New Roman" panose="02020603050405020304" pitchFamily="18" charset="0"/>
                <a:cs typeface="Times New Roman" panose="02020603050405020304" pitchFamily="18" charset="0"/>
              </a:rPr>
              <a:t> = -∂L(</a:t>
            </a:r>
            <a:r>
              <a:rPr lang="en-IN" sz="2400" dirty="0" err="1">
                <a:latin typeface="Times New Roman" panose="02020603050405020304" pitchFamily="18" charset="0"/>
                <a:cs typeface="Times New Roman" panose="02020603050405020304" pitchFamily="18" charset="0"/>
              </a:rPr>
              <a:t>yi</a:t>
            </a:r>
            <a:r>
              <a:rPr lang="en-IN" sz="2400" dirty="0">
                <a:latin typeface="Times New Roman" panose="02020603050405020304" pitchFamily="18" charset="0"/>
                <a:cs typeface="Times New Roman" panose="02020603050405020304" pitchFamily="18" charset="0"/>
              </a:rPr>
              <a:t>, F(xi)) / ∂F(xi)    </a:t>
            </a:r>
          </a:p>
          <a:p>
            <a:r>
              <a:rPr lang="en-IN" sz="2400" dirty="0">
                <a:latin typeface="Times New Roman" panose="02020603050405020304" pitchFamily="18" charset="0"/>
                <a:cs typeface="Times New Roman" panose="02020603050405020304" pitchFamily="18" charset="0"/>
              </a:rPr>
              <a:t>Fit weak learner hm(x) to predict residuals </a:t>
            </a:r>
            <a:r>
              <a:rPr lang="en-IN" sz="2400" dirty="0" err="1">
                <a:latin typeface="Times New Roman" panose="02020603050405020304" pitchFamily="18" charset="0"/>
                <a:cs typeface="Times New Roman" panose="02020603050405020304" pitchFamily="18" charset="0"/>
              </a:rPr>
              <a:t>ri</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Update model: Fm(x) = F{m-1}(x) + </a:t>
            </a:r>
            <a:r>
              <a:rPr lang="el-GR" sz="2400" dirty="0">
                <a:latin typeface="Times New Roman" panose="02020603050405020304" pitchFamily="18" charset="0"/>
                <a:cs typeface="Times New Roman" panose="02020603050405020304" pitchFamily="18" charset="0"/>
              </a:rPr>
              <a:t>η * </a:t>
            </a:r>
            <a:r>
              <a:rPr lang="en-IN" sz="2400" dirty="0" err="1">
                <a:latin typeface="Times New Roman" panose="02020603050405020304" pitchFamily="18" charset="0"/>
                <a:cs typeface="Times New Roman" panose="02020603050405020304" pitchFamily="18" charset="0"/>
              </a:rPr>
              <a:t>h_m</a:t>
            </a:r>
            <a:r>
              <a:rPr lang="en-IN" sz="2400" dirty="0">
                <a:latin typeface="Times New Roman" panose="02020603050405020304" pitchFamily="18" charset="0"/>
                <a:cs typeface="Times New Roman" panose="02020603050405020304" pitchFamily="18" charset="0"/>
              </a:rPr>
              <a:t>(x)</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Output: Final model F_M(x)`</a:t>
            </a:r>
          </a:p>
          <a:p>
            <a:pPr marL="342900" indent="-342900">
              <a:buFontTx/>
              <a:buChar char="-"/>
            </a:pPr>
            <a:r>
              <a:rPr lang="en-IN" sz="2400" dirty="0">
                <a:latin typeface="Times New Roman" panose="02020603050405020304" pitchFamily="18" charset="0"/>
                <a:cs typeface="Times New Roman" panose="02020603050405020304" pitchFamily="18" charset="0"/>
              </a:rPr>
              <a:t>L = loss function (e.g., mean squared error for regression, log-loss for classification).</a:t>
            </a:r>
          </a:p>
          <a:p>
            <a:pPr marL="342900" indent="-342900">
              <a:buFontTx/>
              <a:buChar char="-"/>
            </a:pPr>
            <a:r>
              <a:rPr lang="el-GR" sz="2400" dirty="0">
                <a:latin typeface="Times New Roman" panose="02020603050405020304" pitchFamily="18" charset="0"/>
                <a:cs typeface="Times New Roman" panose="02020603050405020304" pitchFamily="18" charset="0"/>
              </a:rPr>
              <a:t>η (</a:t>
            </a:r>
            <a:r>
              <a:rPr lang="en-IN" sz="2400" dirty="0">
                <a:latin typeface="Times New Roman" panose="02020603050405020304" pitchFamily="18" charset="0"/>
                <a:cs typeface="Times New Roman" panose="02020603050405020304" pitchFamily="18" charset="0"/>
              </a:rPr>
              <a:t>learning rate) controls contribution of each learner (small </a:t>
            </a:r>
            <a:r>
              <a:rPr lang="el-GR" sz="2400" dirty="0">
                <a:latin typeface="Times New Roman" panose="02020603050405020304" pitchFamily="18" charset="0"/>
                <a:cs typeface="Times New Roman" panose="02020603050405020304" pitchFamily="18" charset="0"/>
              </a:rPr>
              <a:t>η → </a:t>
            </a:r>
            <a:r>
              <a:rPr lang="en-IN" sz="2400" dirty="0">
                <a:latin typeface="Times New Roman" panose="02020603050405020304" pitchFamily="18" charset="0"/>
                <a:cs typeface="Times New Roman" panose="02020603050405020304" pitchFamily="18" charset="0"/>
              </a:rPr>
              <a:t>more trees, less overfitting).</a:t>
            </a:r>
          </a:p>
        </p:txBody>
      </p:sp>
    </p:spTree>
    <p:extLst>
      <p:ext uri="{BB962C8B-B14F-4D97-AF65-F5344CB8AC3E}">
        <p14:creationId xmlns:p14="http://schemas.microsoft.com/office/powerpoint/2010/main" val="2300066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F5A4B-612B-9100-2379-AD3291C8391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F688A6-69C5-EF76-1EB6-DA028B8B4F18}"/>
              </a:ext>
            </a:extLst>
          </p:cNvPr>
          <p:cNvSpPr txBox="1"/>
          <p:nvPr/>
        </p:nvSpPr>
        <p:spPr>
          <a:xfrm>
            <a:off x="220133" y="270933"/>
            <a:ext cx="11861800" cy="5878532"/>
          </a:xfrm>
          <a:prstGeom prst="rect">
            <a:avLst/>
          </a:prstGeom>
          <a:noFill/>
        </p:spPr>
        <p:txBody>
          <a:bodyPr wrap="square" rtlCol="0">
            <a:spAutoFit/>
          </a:bodyPr>
          <a:lstStyle/>
          <a:p>
            <a:r>
              <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Advantages:</a:t>
            </a:r>
          </a:p>
          <a:p>
            <a:endPar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algn="just">
              <a:buAutoNum type="arabicPeriod"/>
            </a:pPr>
            <a:r>
              <a:rPr lang="en-US" sz="2400" dirty="0">
                <a:latin typeface="Times New Roman" panose="02020603050405020304" pitchFamily="18" charset="0"/>
                <a:cs typeface="Times New Roman" panose="02020603050405020304" pitchFamily="18" charset="0"/>
              </a:rPr>
              <a:t>Accuracy – Predicts premiums using data‑driven machine learning models.  </a:t>
            </a:r>
          </a:p>
          <a:p>
            <a:pPr marL="514350" indent="-514350" algn="just">
              <a:buAutoNum type="arabicPeriod"/>
            </a:pPr>
            <a:r>
              <a:rPr lang="en-US" sz="2400" dirty="0">
                <a:latin typeface="Times New Roman" panose="02020603050405020304" pitchFamily="18" charset="0"/>
                <a:cs typeface="Times New Roman" panose="02020603050405020304" pitchFamily="18" charset="0"/>
              </a:rPr>
              <a:t> Efficiency – Automates pricing, reducing manual workload.  </a:t>
            </a:r>
          </a:p>
          <a:p>
            <a:pPr marL="514350" indent="-514350" algn="just">
              <a:buAutoNum type="arabicPeriod"/>
            </a:pPr>
            <a:r>
              <a:rPr lang="en-US" sz="2400" dirty="0">
                <a:latin typeface="Times New Roman" panose="02020603050405020304" pitchFamily="18" charset="0"/>
                <a:cs typeface="Times New Roman" panose="02020603050405020304" pitchFamily="18" charset="0"/>
              </a:rPr>
              <a:t> Personalization – Tailors premiums to individual risk profiles.  </a:t>
            </a:r>
          </a:p>
          <a:p>
            <a:pPr marL="514350" indent="-514350" algn="just">
              <a:buAutoNum type="arabicPeriod"/>
            </a:pPr>
            <a:r>
              <a:rPr lang="en-US" sz="2400" dirty="0">
                <a:latin typeface="Times New Roman" panose="02020603050405020304" pitchFamily="18" charset="0"/>
                <a:cs typeface="Times New Roman" panose="02020603050405020304" pitchFamily="18" charset="0"/>
              </a:rPr>
              <a:t> Scalability – Handles large datasets and multiple customer segments. </a:t>
            </a:r>
          </a:p>
          <a:p>
            <a:pPr marL="514350" indent="-514350" algn="just">
              <a:buAutoNum type="arabicPeriod"/>
            </a:pPr>
            <a:r>
              <a:rPr lang="en-US" sz="2400" dirty="0">
                <a:latin typeface="Times New Roman" panose="02020603050405020304" pitchFamily="18" charset="0"/>
                <a:cs typeface="Times New Roman" panose="02020603050405020304" pitchFamily="18" charset="0"/>
              </a:rPr>
              <a:t> Decision Support – Helps insurers set fair and competitive prices.</a:t>
            </a:r>
          </a:p>
          <a:p>
            <a:pPr marL="514350" indent="-514350" algn="just">
              <a:buAutoNum type="arabicPeriod"/>
            </a:pPr>
            <a:endParaRPr lang="en-US" sz="2400" dirty="0">
              <a:latin typeface="Times New Roman" panose="02020603050405020304" pitchFamily="18" charset="0"/>
              <a:cs typeface="Times New Roman" panose="02020603050405020304" pitchFamily="18" charset="0"/>
            </a:endParaRPr>
          </a:p>
          <a:p>
            <a:pPr algn="just"/>
            <a:r>
              <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Disadvantages:</a:t>
            </a:r>
          </a:p>
          <a:p>
            <a:pPr algn="just"/>
            <a:endPar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algn="just">
              <a:buAutoNum type="arabicPeriod"/>
            </a:pPr>
            <a:r>
              <a:rPr lang="en-US" sz="2400" dirty="0">
                <a:latin typeface="Times New Roman" panose="02020603050405020304" pitchFamily="18" charset="0"/>
                <a:cs typeface="Times New Roman" panose="02020603050405020304" pitchFamily="18" charset="0"/>
              </a:rPr>
              <a:t>Data Dependency – Requires high‑quality, complete data for reliable results.  </a:t>
            </a:r>
          </a:p>
          <a:p>
            <a:pPr algn="just"/>
            <a:r>
              <a:rPr lang="en-US" sz="2400" dirty="0">
                <a:latin typeface="Times New Roman" panose="02020603050405020304" pitchFamily="18" charset="0"/>
                <a:cs typeface="Times New Roman" panose="02020603050405020304" pitchFamily="18" charset="0"/>
              </a:rPr>
              <a:t>2.   Complexity – Model training and tuning need technical expertise.  </a:t>
            </a:r>
          </a:p>
          <a:p>
            <a:pPr algn="just"/>
            <a:r>
              <a:rPr lang="en-US" sz="2400" dirty="0">
                <a:latin typeface="Times New Roman" panose="02020603050405020304" pitchFamily="18" charset="0"/>
                <a:cs typeface="Times New Roman" panose="02020603050405020304" pitchFamily="18" charset="0"/>
              </a:rPr>
              <a:t>3.   Cost – Implementation and maintenance can be expensive.  </a:t>
            </a:r>
          </a:p>
          <a:p>
            <a:pPr algn="just"/>
            <a:r>
              <a:rPr lang="en-US" sz="2400" dirty="0">
                <a:latin typeface="Times New Roman" panose="02020603050405020304" pitchFamily="18" charset="0"/>
                <a:cs typeface="Times New Roman" panose="02020603050405020304" pitchFamily="18" charset="0"/>
              </a:rPr>
              <a:t>4.   Privacy Risks – Sensitive customer data must be securely managed. </a:t>
            </a:r>
          </a:p>
          <a:p>
            <a:pPr algn="just"/>
            <a:r>
              <a:rPr lang="en-US" sz="2400" dirty="0">
                <a:latin typeface="Times New Roman" panose="02020603050405020304" pitchFamily="18" charset="0"/>
                <a:cs typeface="Times New Roman" panose="02020603050405020304" pitchFamily="18" charset="0"/>
              </a:rPr>
              <a:t>5.   Bias Potential – Inaccurate or biased data can lead to unfair pricing.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9785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29D58-C2C4-B848-717B-289EDE436D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B9A153-21D6-30FD-C318-2325A4CF5F72}"/>
              </a:ext>
            </a:extLst>
          </p:cNvPr>
          <p:cNvSpPr txBox="1"/>
          <p:nvPr/>
        </p:nvSpPr>
        <p:spPr>
          <a:xfrm>
            <a:off x="220133" y="287866"/>
            <a:ext cx="11506200" cy="6247864"/>
          </a:xfrm>
          <a:prstGeom prst="rect">
            <a:avLst/>
          </a:prstGeom>
          <a:noFill/>
        </p:spPr>
        <p:txBody>
          <a:bodyPr wrap="square" rtlCol="0">
            <a:spAutoFit/>
          </a:bodyPr>
          <a:lstStyle/>
          <a:p>
            <a:r>
              <a:rPr lang="en-IN"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Real World Examples:</a:t>
            </a:r>
          </a:p>
          <a:p>
            <a:endParaRPr lang="en-IN"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Progressive (USA): </a:t>
            </a:r>
            <a:r>
              <a:rPr lang="en-US" sz="2400" dirty="0">
                <a:latin typeface="Times New Roman" panose="02020603050405020304" pitchFamily="18" charset="0"/>
                <a:cs typeface="Times New Roman" panose="02020603050405020304" pitchFamily="18" charset="0"/>
              </a:rPr>
              <a:t>Uses ML in its Snapshot program to set auto premiums based on driver behavior.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Allianz (Global): </a:t>
            </a:r>
            <a:r>
              <a:rPr lang="en-US" sz="2400" dirty="0">
                <a:latin typeface="Times New Roman" panose="02020603050405020304" pitchFamily="18" charset="0"/>
                <a:cs typeface="Times New Roman" panose="02020603050405020304" pitchFamily="18" charset="0"/>
              </a:rPr>
              <a:t>Applies predictive analytics for health and life insurance pricing.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AXA (Europe): </a:t>
            </a:r>
            <a:r>
              <a:rPr lang="en-US" sz="2400" dirty="0">
                <a:latin typeface="Times New Roman" panose="02020603050405020304" pitchFamily="18" charset="0"/>
                <a:cs typeface="Times New Roman" panose="02020603050405020304" pitchFamily="18" charset="0"/>
              </a:rPr>
              <a:t>Employs AI to forecast claims and adjust premiums dynamically.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LIC (India): </a:t>
            </a:r>
            <a:r>
              <a:rPr lang="en-US" sz="2400" dirty="0">
                <a:latin typeface="Times New Roman" panose="02020603050405020304" pitchFamily="18" charset="0"/>
                <a:cs typeface="Times New Roman" panose="02020603050405020304" pitchFamily="18" charset="0"/>
              </a:rPr>
              <a:t>Integrates demographic and medical data for life insurance premium calculations.</a:t>
            </a:r>
          </a:p>
          <a:p>
            <a:pPr algn="just"/>
            <a:endParaRPr lang="en-US" sz="2400" dirty="0">
              <a:latin typeface="Times New Roman" panose="02020603050405020304" pitchFamily="18" charset="0"/>
              <a:cs typeface="Times New Roman" panose="02020603050405020304" pitchFamily="18" charset="0"/>
            </a:endParaRPr>
          </a:p>
          <a:p>
            <a:pPr algn="just"/>
            <a:r>
              <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p>
          <a:p>
            <a:pPr algn="just"/>
            <a:endParaRPr 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Insurance Pricing Forecast systems transform traditional premium calculation by leveraging data analytics and machine learning. They ensure accurate, fair, and personalized pricing while improving efficiency and competitiveness. By combining customer data with predictive models, insurers can build trust, optimize operations, and deliver smarter, customer‑centric solutions.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802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25">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7E28A51-D225-D01B-F06F-D69763F16E54}"/>
              </a:ext>
            </a:extLst>
          </p:cNvPr>
          <p:cNvSpPr>
            <a:spLocks noGrp="1"/>
          </p:cNvSpPr>
          <p:nvPr>
            <p:ph type="title"/>
          </p:nvPr>
        </p:nvSpPr>
        <p:spPr>
          <a:xfrm>
            <a:off x="1524003" y="1999615"/>
            <a:ext cx="860213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THANK YOU</a:t>
            </a:r>
          </a:p>
        </p:txBody>
      </p:sp>
      <p:sp>
        <p:nvSpPr>
          <p:cNvPr id="27" name="Rectangle 2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1764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1289</Words>
  <Application>Microsoft Office PowerPoint</Application>
  <PresentationFormat>Widescreen</PresentationFormat>
  <Paragraphs>155</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Bembo</vt:lpstr>
      <vt:lpstr>Calibri</vt:lpstr>
      <vt:lpstr>Times New Roman</vt:lpstr>
      <vt:lpstr>Office Theme</vt:lpstr>
      <vt:lpstr>            NATIONAL EDUCATION SOCIETY JNN College Of Engineering Shivamogga   Department Of Information Science And Engineering  TITLE: INSURANCE PRICING FORECAST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tanuhs thanuhs</dc:creator>
  <cp:lastModifiedBy>tanuhs thanuhs</cp:lastModifiedBy>
  <cp:revision>22</cp:revision>
  <dcterms:created xsi:type="dcterms:W3CDTF">2026-04-26T04:30:49Z</dcterms:created>
  <dcterms:modified xsi:type="dcterms:W3CDTF">2026-05-06T16:53:45Z</dcterms:modified>
</cp:coreProperties>
</file>